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5143500" type="screen16x9"/>
  <p:notesSz cx="5143500" cy="9144000"/>
  <p:embeddedFontLst>
    <p:embeddedFont>
      <p:font typeface="Bitter" pitchFamily="2" charset="77"/>
      <p:regular r:id="rId12"/>
      <p:bold r:id="rId13"/>
      <p:italic r:id="rId14"/>
      <p:boldItalic r:id="rId15"/>
    </p:embeddedFont>
    <p:embeddedFont>
      <p:font typeface="Outfit" pitchFamily="2" charset="0"/>
      <p:regular r:id="rId16"/>
      <p:bold r:id="rId1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0" roundtripDataSignature="AMtx7miQTmO26GNlamDB26SLCttsbB+W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>
        <p:scale>
          <a:sx n="164" d="100"/>
          <a:sy n="164" d="100"/>
        </p:scale>
        <p:origin x="66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font" Target="fonts/font5.fntdata"/><Relationship Id="rId20" Type="http://customschemas.google.com/relationships/presentationmetadata" Target="meta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" name="Google Shape;1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" name="Google Shape;17;p1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4" name="Google Shape;2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5" name="Google Shape;25;p2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0" name="Google Shape;40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41" name="Google Shape;41;p3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59" name="Google Shape;59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60" name="Google Shape;60;p4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0" name="Google Shape;80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5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01" name="Google Shape;101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6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0" name="Google Shape;120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1" name="Google Shape;121;p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8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59" name="Google Shape;159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0" name="Google Shape;160;p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master 1">
  <p:cSld name="Slide master 1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B101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1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C1D1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l" t="t" r="r" b="b"/>
            <a:pathLst>
              <a:path w="100000" h="100000" extrusionOk="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0" name="Google Shape;20;p1"/>
          <p:cNvSpPr/>
          <p:nvPr/>
        </p:nvSpPr>
        <p:spPr>
          <a:xfrm>
            <a:off x="3925119" y="1938263"/>
            <a:ext cx="4722763" cy="611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850"/>
              <a:buFont typeface="Outfit"/>
              <a:buNone/>
            </a:pPr>
            <a:r>
              <a:rPr lang="en-US" sz="3850" b="1" i="0" u="none" strike="noStrike" cap="none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ODEURE</a:t>
            </a:r>
            <a:endParaRPr sz="3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1"/>
          <p:cNvSpPr/>
          <p:nvPr/>
        </p:nvSpPr>
        <p:spPr>
          <a:xfrm>
            <a:off x="3925119" y="2762250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2750"/>
              <a:buFont typeface="Outfit"/>
              <a:buNone/>
            </a:pPr>
            <a:r>
              <a:rPr lang="en-US" sz="2750" b="1" i="0" u="none" strike="noStrike" cap="none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Luxury, Reimagined.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Google Shape;27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43550" y="0"/>
            <a:ext cx="3600450" cy="5143500"/>
          </a:xfrm>
          <a:custGeom>
            <a:avLst/>
            <a:gdLst/>
            <a:ahLst/>
            <a:cxnLst/>
            <a:rect l="l" t="t" r="r" b="b"/>
            <a:pathLst>
              <a:path w="100000" h="100000" extrusionOk="0">
                <a:moveTo>
                  <a:pt x="9570" y="0"/>
                </a:moveTo>
                <a:lnTo>
                  <a:pt x="100000" y="0"/>
                </a:lnTo>
                <a:lnTo>
                  <a:pt x="100000" y="100000"/>
                </a:lnTo>
                <a:lnTo>
                  <a:pt x="30760" y="100000"/>
                </a:lnTo>
                <a:lnTo>
                  <a:pt x="26370" y="95510"/>
                </a:lnTo>
                <a:lnTo>
                  <a:pt x="26370" y="95310"/>
                </a:lnTo>
                <a:lnTo>
                  <a:pt x="25490" y="94530"/>
                </a:lnTo>
                <a:lnTo>
                  <a:pt x="25490" y="94340"/>
                </a:lnTo>
                <a:lnTo>
                  <a:pt x="22660" y="91210"/>
                </a:lnTo>
                <a:lnTo>
                  <a:pt x="18360" y="85550"/>
                </a:lnTo>
                <a:lnTo>
                  <a:pt x="15140" y="80660"/>
                </a:lnTo>
                <a:lnTo>
                  <a:pt x="11910" y="75000"/>
                </a:lnTo>
                <a:lnTo>
                  <a:pt x="9280" y="69530"/>
                </a:lnTo>
                <a:lnTo>
                  <a:pt x="6840" y="63380"/>
                </a:lnTo>
                <a:lnTo>
                  <a:pt x="4790" y="56740"/>
                </a:lnTo>
                <a:lnTo>
                  <a:pt x="3320" y="50200"/>
                </a:lnTo>
                <a:lnTo>
                  <a:pt x="2440" y="44140"/>
                </a:lnTo>
                <a:lnTo>
                  <a:pt x="2050" y="39060"/>
                </a:lnTo>
                <a:lnTo>
                  <a:pt x="2050" y="30860"/>
                </a:lnTo>
                <a:lnTo>
                  <a:pt x="2540" y="25000"/>
                </a:lnTo>
                <a:lnTo>
                  <a:pt x="3320" y="19820"/>
                </a:lnTo>
                <a:lnTo>
                  <a:pt x="4880" y="12890"/>
                </a:lnTo>
                <a:lnTo>
                  <a:pt x="6930" y="635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28" name="Google Shape;28;p2"/>
          <p:cNvSpPr/>
          <p:nvPr/>
        </p:nvSpPr>
        <p:spPr>
          <a:xfrm>
            <a:off x="496119" y="631552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2750"/>
              <a:buFont typeface="Outfit"/>
              <a:buNone/>
            </a:pPr>
            <a:r>
              <a:rPr lang="en-US" sz="2750" b="1" i="0" u="none" strike="noStrike" cap="none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Would you spend a month's allowance on one bottle?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" name="Google Shape;29;p2"/>
          <p:cNvSpPr/>
          <p:nvPr/>
        </p:nvSpPr>
        <p:spPr>
          <a:xfrm>
            <a:off x="496119" y="1800969"/>
            <a:ext cx="2272754" cy="4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3650"/>
              <a:buFont typeface="Outfit"/>
              <a:buNone/>
            </a:pPr>
            <a:r>
              <a:rPr lang="en-US" sz="36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৳20K</a:t>
            </a:r>
            <a:endParaRPr sz="3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2"/>
          <p:cNvSpPr/>
          <p:nvPr/>
        </p:nvSpPr>
        <p:spPr>
          <a:xfrm>
            <a:off x="496119" y="2445916"/>
            <a:ext cx="2272754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Entry Level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2"/>
          <p:cNvSpPr/>
          <p:nvPr/>
        </p:nvSpPr>
        <p:spPr>
          <a:xfrm>
            <a:off x="496119" y="2752427"/>
            <a:ext cx="2272754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Tom Ford · Dior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"/>
          <p:cNvSpPr/>
          <p:nvPr/>
        </p:nvSpPr>
        <p:spPr>
          <a:xfrm>
            <a:off x="2946053" y="1800969"/>
            <a:ext cx="2272829" cy="4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3650"/>
              <a:buFont typeface="Outfit"/>
              <a:buNone/>
            </a:pPr>
            <a:r>
              <a:rPr lang="en-US" sz="36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৳35K</a:t>
            </a:r>
            <a:endParaRPr sz="3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" name="Google Shape;33;p2"/>
          <p:cNvSpPr/>
          <p:nvPr/>
        </p:nvSpPr>
        <p:spPr>
          <a:xfrm>
            <a:off x="2946053" y="2445916"/>
            <a:ext cx="2272829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Mid Range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" name="Google Shape;34;p2"/>
          <p:cNvSpPr/>
          <p:nvPr/>
        </p:nvSpPr>
        <p:spPr>
          <a:xfrm>
            <a:off x="2946053" y="2752427"/>
            <a:ext cx="2272829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Creed · Maison Francis Kurkdjian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" name="Google Shape;35;p2"/>
          <p:cNvSpPr/>
          <p:nvPr/>
        </p:nvSpPr>
        <p:spPr>
          <a:xfrm>
            <a:off x="1721048" y="3333601"/>
            <a:ext cx="2272829" cy="4678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8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3650"/>
              <a:buFont typeface="Outfit"/>
              <a:buNone/>
            </a:pPr>
            <a:r>
              <a:rPr lang="en-US" sz="36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৳45K</a:t>
            </a:r>
            <a:endParaRPr sz="36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" name="Google Shape;36;p2"/>
          <p:cNvSpPr/>
          <p:nvPr/>
        </p:nvSpPr>
        <p:spPr>
          <a:xfrm>
            <a:off x="1721048" y="3978548"/>
            <a:ext cx="2272829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Premium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" name="Google Shape;37;p2"/>
          <p:cNvSpPr/>
          <p:nvPr/>
        </p:nvSpPr>
        <p:spPr>
          <a:xfrm>
            <a:off x="1721048" y="4285059"/>
            <a:ext cx="2272829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Niche designer houses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" name="Google Shape;43;p3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951681"/>
            <a:ext cx="3902943" cy="2575620"/>
          </a:xfrm>
          <a:prstGeom prst="rect">
            <a:avLst/>
          </a:prstGeom>
          <a:noFill/>
          <a:ln>
            <a:noFill/>
          </a:ln>
        </p:spPr>
      </p:pic>
      <p:sp>
        <p:nvSpPr>
          <p:cNvPr id="44" name="Google Shape;44;p3"/>
          <p:cNvSpPr/>
          <p:nvPr/>
        </p:nvSpPr>
        <p:spPr>
          <a:xfrm>
            <a:off x="4749701" y="1486793"/>
            <a:ext cx="970955" cy="215354"/>
          </a:xfrm>
          <a:prstGeom prst="roundRect">
            <a:avLst>
              <a:gd name="adj" fmla="val 7900"/>
            </a:avLst>
          </a:prstGeom>
          <a:solidFill>
            <a:srgbClr val="2A2C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3"/>
          <p:cNvSpPr/>
          <p:nvPr/>
        </p:nvSpPr>
        <p:spPr>
          <a:xfrm>
            <a:off x="4834756" y="1529283"/>
            <a:ext cx="1258044" cy="13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850"/>
              <a:buFont typeface="Bitter"/>
              <a:buNone/>
            </a:pPr>
            <a:r>
              <a:rPr lang="en-US" sz="85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INTRODUCING</a:t>
            </a:r>
            <a:endParaRPr sz="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3"/>
          <p:cNvSpPr/>
          <p:nvPr/>
        </p:nvSpPr>
        <p:spPr>
          <a:xfrm>
            <a:off x="4749701" y="1758851"/>
            <a:ext cx="390294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2750"/>
              <a:buFont typeface="Outfit"/>
              <a:buNone/>
            </a:pPr>
            <a:r>
              <a:rPr lang="en-US" sz="2750" b="1" i="0" u="none" strike="noStrike" cap="none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Meet </a:t>
            </a:r>
            <a:r>
              <a:rPr lang="en-US" sz="2750" b="1" i="0" u="none" strike="noStrike" cap="none" dirty="0" err="1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Odeure</a:t>
            </a:r>
            <a:r>
              <a:rPr lang="en-US" sz="2750" b="1" i="0" u="none" strike="noStrike" cap="none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.</a:t>
            </a:r>
            <a:endParaRPr sz="2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3"/>
          <p:cNvSpPr/>
          <p:nvPr/>
        </p:nvSpPr>
        <p:spPr>
          <a:xfrm>
            <a:off x="4749701" y="2343596"/>
            <a:ext cx="3902943" cy="6804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 premium Bangladeshi fragrance house - inspired by the world's most iconic designer and niche perfumes. Crafted for those who refuse to compromise on quality, or budget.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3"/>
          <p:cNvSpPr/>
          <p:nvPr/>
        </p:nvSpPr>
        <p:spPr>
          <a:xfrm>
            <a:off x="496119" y="3846240"/>
            <a:ext cx="8151763" cy="504974"/>
          </a:xfrm>
          <a:prstGeom prst="roundRect">
            <a:avLst>
              <a:gd name="adj" fmla="val 4211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3"/>
          <p:cNvSpPr/>
          <p:nvPr/>
        </p:nvSpPr>
        <p:spPr>
          <a:xfrm>
            <a:off x="496119" y="3846240"/>
            <a:ext cx="2717229" cy="504974"/>
          </a:xfrm>
          <a:custGeom>
            <a:avLst/>
            <a:gdLst/>
            <a:ahLst/>
            <a:cxnLst/>
            <a:rect l="l" t="t" r="r" b="b"/>
            <a:pathLst>
              <a:path w="2717229" h="504974" extrusionOk="0">
                <a:moveTo>
                  <a:pt x="17721" y="0"/>
                </a:moveTo>
                <a:lnTo>
                  <a:pt x="2717229" y="0"/>
                </a:lnTo>
                <a:lnTo>
                  <a:pt x="2717229" y="504974"/>
                </a:lnTo>
                <a:lnTo>
                  <a:pt x="17721" y="504974"/>
                </a:lnTo>
                <a:cubicBezTo>
                  <a:pt x="7934" y="504974"/>
                  <a:pt x="0" y="497040"/>
                  <a:pt x="0" y="487253"/>
                </a:cubicBezTo>
                <a:lnTo>
                  <a:pt x="0" y="17721"/>
                </a:lnTo>
                <a:cubicBezTo>
                  <a:pt x="0" y="7934"/>
                  <a:pt x="7934" y="0"/>
                  <a:pt x="17721" y="0"/>
                </a:cubicBezTo>
                <a:close/>
              </a:path>
            </a:pathLst>
          </a:cu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0" name="Google Shape;50;p3"/>
          <p:cNvSpPr/>
          <p:nvPr/>
        </p:nvSpPr>
        <p:spPr>
          <a:xfrm>
            <a:off x="637877" y="3987998"/>
            <a:ext cx="243371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30ml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3"/>
          <p:cNvSpPr/>
          <p:nvPr/>
        </p:nvSpPr>
        <p:spPr>
          <a:xfrm>
            <a:off x="3213348" y="3846240"/>
            <a:ext cx="2717229" cy="504974"/>
          </a:xfrm>
          <a:prstGeom prst="rect">
            <a:avLst/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3"/>
          <p:cNvSpPr/>
          <p:nvPr/>
        </p:nvSpPr>
        <p:spPr>
          <a:xfrm>
            <a:off x="3213348" y="3846240"/>
            <a:ext cx="19050" cy="504974"/>
          </a:xfrm>
          <a:prstGeom prst="roundRect">
            <a:avLst>
              <a:gd name="adj" fmla="val 50000"/>
            </a:avLst>
          </a:prstGeom>
          <a:solidFill>
            <a:srgbClr val="5455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3"/>
          <p:cNvSpPr/>
          <p:nvPr/>
        </p:nvSpPr>
        <p:spPr>
          <a:xfrm>
            <a:off x="3355107" y="3987998"/>
            <a:ext cx="243371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50ml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3"/>
          <p:cNvSpPr/>
          <p:nvPr/>
        </p:nvSpPr>
        <p:spPr>
          <a:xfrm>
            <a:off x="5930578" y="3846240"/>
            <a:ext cx="2717229" cy="504974"/>
          </a:xfrm>
          <a:custGeom>
            <a:avLst/>
            <a:gdLst/>
            <a:ahLst/>
            <a:cxnLst/>
            <a:rect l="l" t="t" r="r" b="b"/>
            <a:pathLst>
              <a:path w="2717229" h="504974" extrusionOk="0">
                <a:moveTo>
                  <a:pt x="0" y="0"/>
                </a:moveTo>
                <a:lnTo>
                  <a:pt x="2699509" y="0"/>
                </a:lnTo>
                <a:cubicBezTo>
                  <a:pt x="2704209" y="0"/>
                  <a:pt x="2708716" y="1867"/>
                  <a:pt x="2712040" y="5190"/>
                </a:cubicBezTo>
                <a:cubicBezTo>
                  <a:pt x="2715363" y="8514"/>
                  <a:pt x="2717230" y="13021"/>
                  <a:pt x="2717230" y="17721"/>
                </a:cubicBezTo>
                <a:lnTo>
                  <a:pt x="2717229" y="487253"/>
                </a:lnTo>
                <a:cubicBezTo>
                  <a:pt x="2717229" y="497040"/>
                  <a:pt x="2709295" y="504974"/>
                  <a:pt x="2699508" y="504974"/>
                </a:cubicBezTo>
                <a:lnTo>
                  <a:pt x="0" y="504974"/>
                </a:lnTo>
                <a:lnTo>
                  <a:pt x="0" y="0"/>
                </a:lnTo>
                <a:close/>
              </a:path>
            </a:pathLst>
          </a:cu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3"/>
          <p:cNvSpPr/>
          <p:nvPr/>
        </p:nvSpPr>
        <p:spPr>
          <a:xfrm>
            <a:off x="5930578" y="3846240"/>
            <a:ext cx="19050" cy="504974"/>
          </a:xfrm>
          <a:prstGeom prst="roundRect">
            <a:avLst>
              <a:gd name="adj" fmla="val 50000"/>
            </a:avLst>
          </a:prstGeom>
          <a:solidFill>
            <a:srgbClr val="54555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6" name="Google Shape;56;p3"/>
          <p:cNvSpPr/>
          <p:nvPr/>
        </p:nvSpPr>
        <p:spPr>
          <a:xfrm>
            <a:off x="6072336" y="3987998"/>
            <a:ext cx="243371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100ml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4"/>
          <p:cNvSpPr/>
          <p:nvPr/>
        </p:nvSpPr>
        <p:spPr>
          <a:xfrm>
            <a:off x="496119" y="845865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2750"/>
              <a:buFont typeface="Outfit"/>
              <a:buNone/>
            </a:pPr>
            <a:r>
              <a:rPr lang="en-US" sz="2750" b="1" i="0" u="none" strike="noStrike" cap="none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Why Odeure?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3" name="Google Shape;63;p4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1572369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4"/>
          <p:cNvSpPr/>
          <p:nvPr/>
        </p:nvSpPr>
        <p:spPr>
          <a:xfrm>
            <a:off x="496119" y="2033067"/>
            <a:ext cx="2599134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Long-Lasting EDP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496119" y="2339578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Eau de Parfum concentration for all-day wear.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6" name="Google Shape;66;p4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272433" y="1572369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67" name="Google Shape;67;p4"/>
          <p:cNvSpPr/>
          <p:nvPr/>
        </p:nvSpPr>
        <p:spPr>
          <a:xfrm>
            <a:off x="3272433" y="2033067"/>
            <a:ext cx="2599134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Premium Ingredients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3272433" y="2339578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Curated notes sourced for depth and richness.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9" name="Google Shape;69;p4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048747" y="1572369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4"/>
          <p:cNvSpPr/>
          <p:nvPr/>
        </p:nvSpPr>
        <p:spPr>
          <a:xfrm>
            <a:off x="6048747" y="2033067"/>
            <a:ext cx="2599134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Affordable Luxury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6048747" y="2339578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Designer-level quality at a fraction of the cost.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2" name="Google Shape;72;p4" descr="preencoded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96119" y="3076724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4"/>
          <p:cNvSpPr/>
          <p:nvPr/>
        </p:nvSpPr>
        <p:spPr>
          <a:xfrm>
            <a:off x="496119" y="3537421"/>
            <a:ext cx="2599134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Elegant Bottles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496119" y="3843933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Sleek, premium packaging that feels as good as it smells.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75" name="Google Shape;75;p4" descr="preencoded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3272433" y="3076724"/>
            <a:ext cx="283518" cy="283518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4"/>
          <p:cNvSpPr/>
          <p:nvPr/>
        </p:nvSpPr>
        <p:spPr>
          <a:xfrm>
            <a:off x="3272433" y="3537421"/>
            <a:ext cx="2599134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Proudly Bangladeshi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4"/>
          <p:cNvSpPr/>
          <p:nvPr/>
        </p:nvSpPr>
        <p:spPr>
          <a:xfrm>
            <a:off x="3272433" y="3843933"/>
            <a:ext cx="2599134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Homegrown craftsmanship with global ambition.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5"/>
          <p:cNvSpPr/>
          <p:nvPr/>
        </p:nvSpPr>
        <p:spPr>
          <a:xfrm>
            <a:off x="496119" y="762149"/>
            <a:ext cx="1112937" cy="215354"/>
          </a:xfrm>
          <a:prstGeom prst="roundRect">
            <a:avLst>
              <a:gd name="adj" fmla="val 7900"/>
            </a:avLst>
          </a:prstGeom>
          <a:noFill/>
          <a:ln w="9525" cap="flat" cmpd="sng">
            <a:solidFill>
              <a:srgbClr val="9FA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5"/>
          <p:cNvSpPr/>
          <p:nvPr/>
        </p:nvSpPr>
        <p:spPr>
          <a:xfrm>
            <a:off x="581174" y="804639"/>
            <a:ext cx="1400026" cy="13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9FA582"/>
              </a:buClr>
              <a:buSzPts val="850"/>
              <a:buFont typeface="Bitter"/>
              <a:buNone/>
            </a:pPr>
            <a:r>
              <a:rPr lang="en-US" sz="850" b="0" i="0" u="none" strike="noStrike" cap="none">
                <a:solidFill>
                  <a:srgbClr val="9FA582"/>
                </a:solidFill>
                <a:latin typeface="Bitter"/>
                <a:ea typeface="Bitter"/>
                <a:cs typeface="Bitter"/>
                <a:sym typeface="Bitter"/>
              </a:rPr>
              <a:t>THE COLLECTION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5"/>
          <p:cNvSpPr/>
          <p:nvPr/>
        </p:nvSpPr>
        <p:spPr>
          <a:xfrm>
            <a:off x="496119" y="1034207"/>
            <a:ext cx="8151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2750"/>
              <a:buFont typeface="Outfit"/>
              <a:buNone/>
            </a:pPr>
            <a:r>
              <a:rPr lang="en-US" sz="2750" b="1" i="0" u="none" strike="noStrike" cap="none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The Signature Collection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5"/>
          <p:cNvSpPr/>
          <p:nvPr/>
        </p:nvSpPr>
        <p:spPr>
          <a:xfrm>
            <a:off x="496119" y="1689795"/>
            <a:ext cx="86089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Four</a:t>
            </a: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iconic scents, each one a confident tribute to the world's most celebrated fragrances.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2076078"/>
            <a:ext cx="4004965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5"/>
          <p:cNvSpPr/>
          <p:nvPr/>
        </p:nvSpPr>
        <p:spPr>
          <a:xfrm>
            <a:off x="733127" y="2236887"/>
            <a:ext cx="3607147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dirty="0">
                <a:solidFill>
                  <a:srgbClr val="C2C4B5"/>
                </a:solidFill>
                <a:latin typeface="Outfit"/>
                <a:ea typeface="Calibri"/>
                <a:cs typeface="Calibri"/>
                <a:sym typeface="Outfit"/>
              </a:rPr>
              <a:t>Golden Veil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5"/>
          <p:cNvSpPr/>
          <p:nvPr/>
        </p:nvSpPr>
        <p:spPr>
          <a:xfrm>
            <a:off x="733127" y="2543398"/>
            <a:ext cx="3607147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33000"/>
              </a:lnSpc>
              <a:buClr>
                <a:srgbClr val="C2C4B5"/>
              </a:buClr>
              <a:buSzPts val="1100"/>
            </a:pP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Inspired by </a:t>
            </a:r>
            <a:r>
              <a:rPr lang="en-US" sz="1100" b="1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11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1100" b="1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CC</a:t>
            </a:r>
            <a:r>
              <a:rPr lang="en-US" sz="11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1100" b="1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Blonde Amber</a:t>
            </a: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- deep, mysterious, unforgettable.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0" name="Google Shape;90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2842" y="2076078"/>
            <a:ext cx="4005039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5"/>
          <p:cNvSpPr/>
          <p:nvPr/>
        </p:nvSpPr>
        <p:spPr>
          <a:xfrm>
            <a:off x="4879851" y="2236887"/>
            <a:ext cx="36072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dirty="0">
                <a:solidFill>
                  <a:srgbClr val="C2C4B5"/>
                </a:solidFill>
                <a:latin typeface="Outfit"/>
                <a:ea typeface="Calibri"/>
                <a:cs typeface="Calibri"/>
                <a:sym typeface="Outfit"/>
              </a:rPr>
              <a:t>Velvet Noir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5"/>
          <p:cNvSpPr/>
          <p:nvPr/>
        </p:nvSpPr>
        <p:spPr>
          <a:xfrm>
            <a:off x="4879851" y="2543398"/>
            <a:ext cx="3607222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Inspired by </a:t>
            </a:r>
            <a:r>
              <a:rPr lang="en-US" sz="1100" b="1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</a:t>
            </a:r>
            <a:r>
              <a:rPr lang="en-US" sz="1100" b="1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ortrait of a Lady</a:t>
            </a: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- fresh, confident, timeless.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3299594"/>
            <a:ext cx="4004965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5"/>
          <p:cNvSpPr/>
          <p:nvPr/>
        </p:nvSpPr>
        <p:spPr>
          <a:xfrm>
            <a:off x="733127" y="3460403"/>
            <a:ext cx="3607147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dirty="0">
                <a:solidFill>
                  <a:srgbClr val="C2C4B5"/>
                </a:solidFill>
                <a:latin typeface="Outfit"/>
                <a:ea typeface="Calibri"/>
                <a:cs typeface="Calibri"/>
                <a:sym typeface="Outfit"/>
              </a:rPr>
              <a:t>Reflection Man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5"/>
          <p:cNvSpPr/>
          <p:nvPr/>
        </p:nvSpPr>
        <p:spPr>
          <a:xfrm>
            <a:off x="733127" y="3766914"/>
            <a:ext cx="3607147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lvl="0">
              <a:lnSpc>
                <a:spcPct val="133000"/>
              </a:lnSpc>
              <a:buClr>
                <a:srgbClr val="C2C4B5"/>
              </a:buClr>
              <a:buSzPts val="1100"/>
            </a:pP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Inspired by </a:t>
            </a:r>
            <a:r>
              <a:rPr lang="en-US" sz="1100" b="1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Amouage</a:t>
            </a:r>
            <a:r>
              <a:rPr lang="en-US" sz="1100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</a:t>
            </a:r>
            <a:r>
              <a:rPr lang="en-US" sz="1100" b="1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Reflection Man </a:t>
            </a: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- radiant, warm, luxurious.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6" name="Google Shape;96;p5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2842" y="3299594"/>
            <a:ext cx="4005039" cy="1081757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5"/>
          <p:cNvSpPr/>
          <p:nvPr/>
        </p:nvSpPr>
        <p:spPr>
          <a:xfrm>
            <a:off x="4879851" y="3460403"/>
            <a:ext cx="36072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 dirty="0" err="1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Babycat</a:t>
            </a:r>
            <a:endParaRPr sz="13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5"/>
          <p:cNvSpPr/>
          <p:nvPr/>
        </p:nvSpPr>
        <p:spPr>
          <a:xfrm>
            <a:off x="4879851" y="3766914"/>
            <a:ext cx="3607222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Inspired by </a:t>
            </a:r>
            <a:r>
              <a:rPr lang="en-US" sz="1100" b="1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YSL </a:t>
            </a:r>
            <a:r>
              <a:rPr lang="en-US" sz="1100" b="1" i="0" u="none" strike="noStrike" cap="none" dirty="0" err="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Babycat</a:t>
            </a: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- bold, powerful, commanding.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6" descr="preencoded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96119" y="952574"/>
            <a:ext cx="3478039" cy="2318668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6"/>
          <p:cNvSpPr/>
          <p:nvPr/>
        </p:nvSpPr>
        <p:spPr>
          <a:xfrm>
            <a:off x="4324796" y="1472654"/>
            <a:ext cx="1007790" cy="215354"/>
          </a:xfrm>
          <a:prstGeom prst="roundRect">
            <a:avLst>
              <a:gd name="adj" fmla="val 7900"/>
            </a:avLst>
          </a:prstGeom>
          <a:solidFill>
            <a:srgbClr val="2A2C20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6"/>
          <p:cNvSpPr/>
          <p:nvPr/>
        </p:nvSpPr>
        <p:spPr>
          <a:xfrm>
            <a:off x="4409852" y="1515145"/>
            <a:ext cx="1294879" cy="13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850"/>
              <a:buFont typeface="Bitter"/>
              <a:buNone/>
            </a:pPr>
            <a:r>
              <a:rPr lang="en-US" sz="85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PERFORMANCE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6"/>
          <p:cNvSpPr/>
          <p:nvPr/>
        </p:nvSpPr>
        <p:spPr>
          <a:xfrm>
            <a:off x="4324796" y="1744712"/>
            <a:ext cx="432777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2750"/>
              <a:buFont typeface="Outfit"/>
              <a:buNone/>
            </a:pPr>
            <a:r>
              <a:rPr lang="en-US" sz="2750" b="1" i="0" u="none" strike="noStrike" cap="none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Built to Last.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6"/>
          <p:cNvSpPr/>
          <p:nvPr/>
        </p:nvSpPr>
        <p:spPr>
          <a:xfrm>
            <a:off x="4324796" y="2329458"/>
            <a:ext cx="432777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Odeure's Eau de Parfum formula is engineered for endurance — from your morning routine to your midnight exit.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9" name="Google Shape;109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49250" y="3594571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6"/>
          <p:cNvSpPr/>
          <p:nvPr/>
        </p:nvSpPr>
        <p:spPr>
          <a:xfrm>
            <a:off x="956816" y="3590181"/>
            <a:ext cx="2138437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EDP Concentration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6"/>
          <p:cNvSpPr/>
          <p:nvPr/>
        </p:nvSpPr>
        <p:spPr>
          <a:xfrm>
            <a:off x="956816" y="3896692"/>
            <a:ext cx="2138437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Higher oil content for richer, longer-lasting scent.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325564" y="3594571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6"/>
          <p:cNvSpPr/>
          <p:nvPr/>
        </p:nvSpPr>
        <p:spPr>
          <a:xfrm>
            <a:off x="3733130" y="3590181"/>
            <a:ext cx="2138437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Strong Projection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6"/>
          <p:cNvSpPr/>
          <p:nvPr/>
        </p:nvSpPr>
        <p:spPr>
          <a:xfrm>
            <a:off x="3733130" y="3896692"/>
            <a:ext cx="2138437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Leaves a trail without overpowering.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5" name="Google Shape;115;p6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01879" y="3594571"/>
            <a:ext cx="212601" cy="2126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6"/>
          <p:cNvSpPr/>
          <p:nvPr/>
        </p:nvSpPr>
        <p:spPr>
          <a:xfrm>
            <a:off x="6509445" y="3590181"/>
            <a:ext cx="2138437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350"/>
              <a:buFont typeface="Outfit"/>
              <a:buNone/>
            </a:pP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All-Day Wear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6"/>
          <p:cNvSpPr/>
          <p:nvPr/>
        </p:nvSpPr>
        <p:spPr>
          <a:xfrm>
            <a:off x="6509445" y="3896692"/>
            <a:ext cx="2138437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Designed to stay from sunrise to sunset.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7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l" t="t" r="r" b="b"/>
            <a:pathLst>
              <a:path w="100000" h="100000" extrusionOk="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24" name="Google Shape;124;p7"/>
          <p:cNvSpPr/>
          <p:nvPr/>
        </p:nvSpPr>
        <p:spPr>
          <a:xfrm>
            <a:off x="3925119" y="700162"/>
            <a:ext cx="964704" cy="215354"/>
          </a:xfrm>
          <a:prstGeom prst="roundRect">
            <a:avLst>
              <a:gd name="adj" fmla="val 7900"/>
            </a:avLst>
          </a:prstGeom>
          <a:noFill/>
          <a:ln w="9525" cap="flat" cmpd="sng">
            <a:solidFill>
              <a:srgbClr val="9FA58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5" name="Google Shape;125;p7"/>
          <p:cNvSpPr/>
          <p:nvPr/>
        </p:nvSpPr>
        <p:spPr>
          <a:xfrm>
            <a:off x="4010174" y="742652"/>
            <a:ext cx="1251793" cy="1303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96000"/>
              </a:lnSpc>
              <a:spcBef>
                <a:spcPts val="0"/>
              </a:spcBef>
              <a:spcAft>
                <a:spcPts val="0"/>
              </a:spcAft>
              <a:buClr>
                <a:srgbClr val="9FA582"/>
              </a:buClr>
              <a:buSzPts val="850"/>
              <a:buFont typeface="Bitter"/>
              <a:buNone/>
            </a:pPr>
            <a:r>
              <a:rPr lang="en-US" sz="850" b="0" i="0" u="none" strike="noStrike" cap="none">
                <a:solidFill>
                  <a:srgbClr val="9FA582"/>
                </a:solidFill>
                <a:latin typeface="Bitter"/>
                <a:ea typeface="Bitter"/>
                <a:cs typeface="Bitter"/>
                <a:sym typeface="Bitter"/>
              </a:rPr>
              <a:t>SOCIAL PROOF</a:t>
            </a:r>
            <a:endParaRPr sz="8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7"/>
          <p:cNvSpPr/>
          <p:nvPr/>
        </p:nvSpPr>
        <p:spPr>
          <a:xfrm>
            <a:off x="3925119" y="972220"/>
            <a:ext cx="4722763" cy="4429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2750"/>
              <a:buFont typeface="Outfit"/>
              <a:buNone/>
            </a:pPr>
            <a:r>
              <a:rPr lang="en-US" sz="2750" b="1" i="0" u="none" strike="noStrike" cap="none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Loved by Real People.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7"/>
          <p:cNvSpPr/>
          <p:nvPr/>
        </p:nvSpPr>
        <p:spPr>
          <a:xfrm>
            <a:off x="3925119" y="1627808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Real reviews. Real customers. Real Odeure.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7"/>
          <p:cNvSpPr/>
          <p:nvPr/>
        </p:nvSpPr>
        <p:spPr>
          <a:xfrm>
            <a:off x="3925119" y="2014091"/>
            <a:ext cx="2290465" cy="1370558"/>
          </a:xfrm>
          <a:prstGeom prst="roundRect">
            <a:avLst>
              <a:gd name="adj" fmla="val 1552"/>
            </a:avLst>
          </a:prstGeom>
          <a:solidFill>
            <a:srgbClr val="1C1D1F"/>
          </a:solidFill>
          <a:ln w="19050" cap="flat" cmpd="sng">
            <a:solidFill>
              <a:srgbClr val="545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9" name="Google Shape;129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9113" y="1948086"/>
            <a:ext cx="170111" cy="17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111478" y="3280544"/>
            <a:ext cx="170111" cy="170111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7"/>
          <p:cNvSpPr/>
          <p:nvPr/>
        </p:nvSpPr>
        <p:spPr>
          <a:xfrm>
            <a:off x="4156770" y="2245742"/>
            <a:ext cx="1827163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"Noir smells exactly like my Tom Ford ,but at a price I can actually afford. I'm obsessed."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7"/>
          <p:cNvSpPr/>
          <p:nvPr/>
        </p:nvSpPr>
        <p:spPr>
          <a:xfrm>
            <a:off x="6357342" y="2014091"/>
            <a:ext cx="2290539" cy="1370558"/>
          </a:xfrm>
          <a:prstGeom prst="roundRect">
            <a:avLst>
              <a:gd name="adj" fmla="val 1552"/>
            </a:avLst>
          </a:prstGeom>
          <a:solidFill>
            <a:srgbClr val="1C1D1F"/>
          </a:solidFill>
          <a:ln w="19050" cap="flat" cmpd="sng">
            <a:solidFill>
              <a:srgbClr val="545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3" name="Google Shape;133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291337" y="1948086"/>
            <a:ext cx="170111" cy="17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43776" y="3280544"/>
            <a:ext cx="170111" cy="170111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7"/>
          <p:cNvSpPr/>
          <p:nvPr/>
        </p:nvSpPr>
        <p:spPr>
          <a:xfrm>
            <a:off x="6588993" y="2245742"/>
            <a:ext cx="1827237" cy="9072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"Finally, a Bangladeshi brand that doesn't compromise on quality. Velvet is my new signature."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7"/>
          <p:cNvSpPr/>
          <p:nvPr/>
        </p:nvSpPr>
        <p:spPr>
          <a:xfrm>
            <a:off x="3925119" y="3526408"/>
            <a:ext cx="4722763" cy="916930"/>
          </a:xfrm>
          <a:prstGeom prst="roundRect">
            <a:avLst>
              <a:gd name="adj" fmla="val 2319"/>
            </a:avLst>
          </a:prstGeom>
          <a:solidFill>
            <a:srgbClr val="1C1D1F"/>
          </a:solidFill>
          <a:ln w="19050" cap="flat" cmpd="sng">
            <a:solidFill>
              <a:srgbClr val="54555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7" name="Google Shape;137;p7" descr="preencoded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859113" y="3460403"/>
            <a:ext cx="170111" cy="170111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7" descr="preencoded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543776" y="4339233"/>
            <a:ext cx="170111" cy="170111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7"/>
          <p:cNvSpPr/>
          <p:nvPr/>
        </p:nvSpPr>
        <p:spPr>
          <a:xfrm>
            <a:off x="4156770" y="3758059"/>
            <a:ext cx="4259461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"Bought Ocean for my boyfriend. He gets compliments every single day. Worth every taka."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8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l" t="t" r="r" b="b"/>
            <a:pathLst>
              <a:path w="100000" h="100000" extrusionOk="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46" name="Google Shape;146;p8"/>
          <p:cNvSpPr/>
          <p:nvPr/>
        </p:nvSpPr>
        <p:spPr>
          <a:xfrm>
            <a:off x="3925119" y="828154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2750"/>
              <a:buFont typeface="Outfit"/>
              <a:buNone/>
            </a:pPr>
            <a:r>
              <a:rPr lang="en-US" sz="2750" b="1" i="0" u="none" strike="noStrike" cap="none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Experience Luxury Without Compromise.</a:t>
            </a:r>
            <a:endParaRPr sz="27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8"/>
          <p:cNvSpPr/>
          <p:nvPr/>
        </p:nvSpPr>
        <p:spPr>
          <a:xfrm>
            <a:off x="3925119" y="1926729"/>
            <a:ext cx="5179963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Your scent is your signature. Wear it with confidence.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8"/>
          <p:cNvSpPr/>
          <p:nvPr/>
        </p:nvSpPr>
        <p:spPr>
          <a:xfrm>
            <a:off x="3925119" y="2313012"/>
            <a:ext cx="2290465" cy="1043657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8"/>
          <p:cNvSpPr/>
          <p:nvPr/>
        </p:nvSpPr>
        <p:spPr>
          <a:xfrm>
            <a:off x="4066877" y="2454771"/>
            <a:ext cx="2006947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📲</a:t>
            </a: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 Follow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8"/>
          <p:cNvSpPr/>
          <p:nvPr/>
        </p:nvSpPr>
        <p:spPr>
          <a:xfrm>
            <a:off x="4066877" y="2761283"/>
            <a:ext cx="2006947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@</a:t>
            </a:r>
            <a:r>
              <a:rPr lang="en-US" sz="1100" b="0" i="0" u="none" strike="noStrike" cap="none" dirty="0" err="1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odeure.bd</a:t>
            </a: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 on Instagram &amp; Facebook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8"/>
          <p:cNvSpPr/>
          <p:nvPr/>
        </p:nvSpPr>
        <p:spPr>
          <a:xfrm>
            <a:off x="6357342" y="2313012"/>
            <a:ext cx="2290539" cy="1043657"/>
          </a:xfrm>
          <a:prstGeom prst="roundRect">
            <a:avLst>
              <a:gd name="adj" fmla="val 2038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p8"/>
          <p:cNvSpPr/>
          <p:nvPr/>
        </p:nvSpPr>
        <p:spPr>
          <a:xfrm>
            <a:off x="6499101" y="2454771"/>
            <a:ext cx="2007022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🛒</a:t>
            </a: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 Shop Now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8"/>
          <p:cNvSpPr/>
          <p:nvPr/>
        </p:nvSpPr>
        <p:spPr>
          <a:xfrm>
            <a:off x="6499101" y="2761283"/>
            <a:ext cx="2007022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Browse the full collection online</a:t>
            </a:r>
            <a:endParaRPr sz="11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8"/>
          <p:cNvSpPr/>
          <p:nvPr/>
        </p:nvSpPr>
        <p:spPr>
          <a:xfrm>
            <a:off x="3925119" y="3498428"/>
            <a:ext cx="4722763" cy="816843"/>
          </a:xfrm>
          <a:prstGeom prst="roundRect">
            <a:avLst>
              <a:gd name="adj" fmla="val 2603"/>
            </a:avLst>
          </a:prstGeom>
          <a:solidFill>
            <a:srgbClr val="3B3C3E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8"/>
          <p:cNvSpPr/>
          <p:nvPr/>
        </p:nvSpPr>
        <p:spPr>
          <a:xfrm>
            <a:off x="4066877" y="3640187"/>
            <a:ext cx="4439245" cy="2214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50"/>
              <a:buFont typeface="Arial"/>
              <a:buNone/>
            </a:pPr>
            <a:r>
              <a:rPr lang="en-US" sz="1350" b="1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🎓</a:t>
            </a:r>
            <a:r>
              <a:rPr lang="en-US" sz="1350" b="1" i="0" u="none" strike="noStrike" cap="none">
                <a:solidFill>
                  <a:srgbClr val="C2C4B5"/>
                </a:solidFill>
                <a:latin typeface="Outfit"/>
                <a:ea typeface="Outfit"/>
                <a:cs typeface="Outfit"/>
                <a:sym typeface="Outfit"/>
              </a:rPr>
              <a:t> Students</a:t>
            </a:r>
            <a:endParaRPr sz="135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8"/>
          <p:cNvSpPr/>
          <p:nvPr/>
        </p:nvSpPr>
        <p:spPr>
          <a:xfrm>
            <a:off x="4066877" y="3946699"/>
            <a:ext cx="4439245" cy="2268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Get 10% off with your student ID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Google Shape;162;p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3600450" cy="5143500"/>
          </a:xfrm>
          <a:custGeom>
            <a:avLst/>
            <a:gdLst/>
            <a:ahLst/>
            <a:cxnLst/>
            <a:rect l="l" t="t" r="r" b="b"/>
            <a:pathLst>
              <a:path w="100000" h="100000" extrusionOk="0">
                <a:moveTo>
                  <a:pt x="0" y="0"/>
                </a:moveTo>
                <a:lnTo>
                  <a:pt x="90530" y="100"/>
                </a:lnTo>
                <a:lnTo>
                  <a:pt x="93070" y="6350"/>
                </a:lnTo>
                <a:lnTo>
                  <a:pt x="94920" y="12210"/>
                </a:lnTo>
                <a:lnTo>
                  <a:pt x="96680" y="19820"/>
                </a:lnTo>
                <a:lnTo>
                  <a:pt x="97560" y="25880"/>
                </a:lnTo>
                <a:lnTo>
                  <a:pt x="97950" y="30960"/>
                </a:lnTo>
                <a:lnTo>
                  <a:pt x="97950" y="39060"/>
                </a:lnTo>
                <a:lnTo>
                  <a:pt x="97270" y="46480"/>
                </a:lnTo>
                <a:lnTo>
                  <a:pt x="96190" y="52640"/>
                </a:lnTo>
                <a:lnTo>
                  <a:pt x="94730" y="58500"/>
                </a:lnTo>
                <a:lnTo>
                  <a:pt x="92480" y="65230"/>
                </a:lnTo>
                <a:lnTo>
                  <a:pt x="89550" y="72070"/>
                </a:lnTo>
                <a:lnTo>
                  <a:pt x="86820" y="77340"/>
                </a:lnTo>
                <a:lnTo>
                  <a:pt x="83500" y="82810"/>
                </a:lnTo>
                <a:lnTo>
                  <a:pt x="79200" y="88870"/>
                </a:lnTo>
                <a:lnTo>
                  <a:pt x="75880" y="92770"/>
                </a:lnTo>
                <a:lnTo>
                  <a:pt x="75880" y="92970"/>
                </a:lnTo>
                <a:lnTo>
                  <a:pt x="74510" y="94340"/>
                </a:lnTo>
                <a:lnTo>
                  <a:pt x="74510" y="94530"/>
                </a:lnTo>
                <a:lnTo>
                  <a:pt x="69240" y="100000"/>
                </a:lnTo>
                <a:lnTo>
                  <a:pt x="0" y="100000"/>
                </a:lnTo>
                <a:close/>
              </a:path>
            </a:pathLst>
          </a:custGeom>
          <a:noFill/>
          <a:ln>
            <a:noFill/>
          </a:ln>
        </p:spPr>
      </p:pic>
      <p:sp>
        <p:nvSpPr>
          <p:cNvPr id="163" name="Google Shape;163;p9"/>
          <p:cNvSpPr/>
          <p:nvPr/>
        </p:nvSpPr>
        <p:spPr>
          <a:xfrm>
            <a:off x="3925118" y="1591408"/>
            <a:ext cx="4722763" cy="61138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3850"/>
              <a:buFont typeface="Outfit"/>
              <a:buNone/>
            </a:pPr>
            <a:r>
              <a:rPr lang="en-US" sz="3850" b="1" i="0" u="none" strike="noStrike" cap="none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ODEURE</a:t>
            </a:r>
            <a:endParaRPr sz="38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9"/>
          <p:cNvSpPr/>
          <p:nvPr/>
        </p:nvSpPr>
        <p:spPr>
          <a:xfrm>
            <a:off x="3925119" y="2638035"/>
            <a:ext cx="4722763" cy="88597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04000"/>
              </a:lnSpc>
              <a:spcBef>
                <a:spcPts val="0"/>
              </a:spcBef>
              <a:spcAft>
                <a:spcPts val="0"/>
              </a:spcAft>
              <a:buClr>
                <a:srgbClr val="E1E5CD"/>
              </a:buClr>
              <a:buSzPts val="2750"/>
              <a:buFont typeface="Outfit"/>
              <a:buNone/>
            </a:pPr>
            <a:r>
              <a:rPr lang="en-US" sz="2750" b="1" i="0" u="none" strike="noStrike" cap="none" dirty="0">
                <a:solidFill>
                  <a:srgbClr val="E1E5CD"/>
                </a:solidFill>
                <a:latin typeface="Outfit"/>
                <a:ea typeface="Outfit"/>
                <a:cs typeface="Outfit"/>
                <a:sym typeface="Outfit"/>
              </a:rPr>
              <a:t>Questions? We'd love to hear from you.</a:t>
            </a:r>
            <a:endParaRPr sz="275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9"/>
          <p:cNvSpPr/>
          <p:nvPr/>
        </p:nvSpPr>
        <p:spPr>
          <a:xfrm>
            <a:off x="3925119" y="3783105"/>
            <a:ext cx="4722763" cy="4536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33000"/>
              </a:lnSpc>
              <a:spcBef>
                <a:spcPts val="0"/>
              </a:spcBef>
              <a:spcAft>
                <a:spcPts val="0"/>
              </a:spcAft>
              <a:buClr>
                <a:srgbClr val="C2C4B5"/>
              </a:buClr>
              <a:buSzPts val="1100"/>
              <a:buFont typeface="Bitter"/>
              <a:buNone/>
            </a:pPr>
            <a:r>
              <a:rPr lang="en-US" sz="1100" b="0" i="0" u="none" strike="noStrike" cap="none" dirty="0">
                <a:solidFill>
                  <a:srgbClr val="C2C4B5"/>
                </a:solidFill>
                <a:latin typeface="Bitter"/>
                <a:ea typeface="Bitter"/>
                <a:cs typeface="Bitter"/>
                <a:sym typeface="Bitter"/>
              </a:rPr>
              <a:t>Reach out to us and discover your perfect scent. Luxury is closer than you think.</a:t>
            </a:r>
            <a:endParaRPr sz="1100" b="0" i="0" u="none" strike="noStrike" cap="none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409</Words>
  <Application>Microsoft Macintosh PowerPoint</Application>
  <PresentationFormat>On-screen Show (16:9)</PresentationFormat>
  <Paragraphs>75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Outfit</vt:lpstr>
      <vt:lpstr>Bitter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Junayed Nafis</cp:lastModifiedBy>
  <cp:revision>3</cp:revision>
  <dcterms:modified xsi:type="dcterms:W3CDTF">2026-08-05T18:56:39Z</dcterms:modified>
</cp:coreProperties>
</file>